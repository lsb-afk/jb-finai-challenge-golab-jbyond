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반드시 </a:t>
                      </a:r>
                      <a:r>
                        <a:rPr lang="ko-KR" altLang="en-US" sz="1400" i="1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데이콘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i="1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팀명과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동일한 </a:t>
                      </a:r>
                      <a:r>
                        <a:rPr lang="ko-KR" altLang="en-US" sz="1400" i="1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팀명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팀원 성명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선정한 주제</a:t>
                      </a:r>
                      <a:r>
                        <a:rPr lang="en-US" altLang="ko-KR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예 </a:t>
                      </a:r>
                      <a:r>
                        <a:rPr lang="en-US" altLang="ko-KR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지정주제 </a:t>
                      </a:r>
                      <a:r>
                        <a:rPr lang="en-US" altLang="ko-KR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400" i="1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개인라이프케어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AI)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서비스에 대해 간략히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1F2D3D"/>
                </a:solidFill>
              </a:rPr>
              <a:t>JB LocalGuard OS — 지역 금융 고객 위험 신호를 모아 14종 AI 에이전트가 판단·행동·검증하되, 고객 대상 행동은 사람 승인 전까지 차단하는 금융 AI Agent 운영 콘솔</a:t>
            </a:r>
          </a:p>
          <a:p>
            <a:pPr/>
            <a:r>
              <a:rPr sz="1300" b="0">
                <a:solidFill>
                  <a:srgbClr val="556677"/>
                </a:solidFill>
              </a:rPr>
              <a:t>대상: 전북은행·광주은행·JB우리캐피탈 RM·기업금융·사후관리·준법 담당자 (최종 수혜자: 지역 소상공인·개인사업자·전세 고객)</a:t>
            </a:r>
          </a:p>
          <a:p>
            <a:pPr/>
            <a:r>
              <a:rPr sz="1300" b="0">
                <a:solidFill>
                  <a:srgbClr val="556677"/>
                </a:solidFill>
              </a:rPr>
              <a:t>문제: 기사·정책·시세·등기·상담·사기경보가 흩어져 위험을 조기에 모아 판단·행동하기 어렵다</a:t>
            </a:r>
          </a:p>
          <a:p>
            <a:pPr/>
            <a:r>
              <a:rPr sz="1300" b="1">
                <a:solidFill>
                  <a:srgbClr val="1F2D3D"/>
                </a:solidFill>
              </a:rPr>
              <a:t>차별점: 외부 LLM은 쓰되 고객 원본 PII·신용정보는 외부로 반출하지 않는다 (데이터 등급제·토큰화·모델 라우팅·반출 스캔·감사원장 4중 방어) → 금융권 실도입 가능</a:t>
            </a:r>
          </a:p>
          <a:p>
            <a:pPr/>
            <a:r>
              <a:rPr sz="1300" b="0">
                <a:solidFill>
                  <a:srgbClr val="556677"/>
                </a:solidFill>
              </a:rPr>
              <a:t>검증: 정적 MVP에서 케이스→AgentRun→승인→감사 로그 갱신 재현, 골든 패스 3종(sme/jeonse/phishing), Playwright E2E 19종</a:t>
            </a:r>
          </a:p>
          <a:p>
            <a:pPr/>
            <a:r>
              <a:rPr sz="1300" b="0">
                <a:solidFill>
                  <a:srgbClr val="556677"/>
                </a:solidFill>
              </a:rPr>
              <a:t>규모: 에이전트 14 · 스킬 25 · 플러그인/MCP 6 · 화면 15</a:t>
            </a:r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507B-AE97-543C-09EA-F8D8E5D08465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분산된 위험 신호로 담당자의 조기 대응이 어렵다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누가: 담당자 1인이 수십~수백 케이스 — 신호는 기사·정책·시세·등기·상담·사기경보로 분산</a:t>
            </a:r>
          </a:p>
          <a:p>
            <a:pPr lvl="1"/>
            <a:r>
              <a:rPr sz="1200" b="0">
                <a:solidFill>
                  <a:srgbClr val="556677"/>
                </a:solidFill>
              </a:rPr>
              <a:t>Pain(검증): 취약 자영업자 42.7만명(연체율 11.16%)·2024 폐업 100.8만명</a:t>
            </a:r>
          </a:p>
          <a:p>
            <a:pPr lvl="1"/>
            <a:r>
              <a:rPr sz="1200" b="0">
                <a:solidFill>
                  <a:srgbClr val="556677"/>
                </a:solidFill>
              </a:rPr>
              <a:t>전세사기 피해 인정 3.9만건·HUG 사고액 2024년 4.49조원 / 보이스피싱 2025.1~11월 1.13조원(+56%)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JB 관점: 지역 밀착·상생금융 직결 / 네이버클라우드 MOU(상담→심사→사후관리 AI)의 실행 수단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중요성: 사후관리 누락·대응 지연 = 건전성 저하·고객 이탈 위험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3B1F9-D3F2-5329-8A08-D8762AD85FE0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Case→AgentRun→Agent→Skill→Evidence→Approval→Audit 운영 계약 위 멀티 에이전트가 케이스를 처리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/>
            <a:r>
              <a:rPr sz="1200" b="0">
                <a:solidFill>
                  <a:srgbClr val="556677"/>
                </a:solidFill>
              </a:rPr>
              <a:t>챗봇이 아니라 담당자에게 '근거 있는 판단 + 승인 가능한 행동 초안'을 제공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14 전문 에이전트 + 25 스킬, 사람 승인자(RM·준법) 2 + 승인 게이트가 고객 대상 행동을 통제</a:t>
            </a:r>
          </a:p>
          <a:p>
            <a:pPr/>
            <a:r>
              <a:rPr sz="1200" b="1">
                <a:solidFill>
                  <a:srgbClr val="1F2D3D"/>
                </a:solidFill>
              </a:rPr>
              <a:t>최대 차별점 — PII 비반출 데이터 거버넌스 4중 방어 (아래 그림)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governance-4def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44" y="3383280"/>
            <a:ext cx="7498079" cy="173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62E8-93AF-B710-4D80-CB1BA79AD5F5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핵심 기능 6가지 — 모두 MVP에서 동작 확인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/>
            <a:r>
              <a:rPr sz="1200" b="0">
                <a:solidFill>
                  <a:srgbClr val="556677"/>
                </a:solidFill>
              </a:rPr>
              <a:t>케이스 운영보드/대시보드 — 칸반 이동이 실제 상태 전환 hook 발화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AgentRun 실행 — 판단·근거·confidence 단계 로그 / 스킬 저장소 25종(위험도·승인정책)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데이터 거버넌스 패널 — 토큰화 전/후·모델 라우팅·반출 스캔·법령 칩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승인 게이트 + 감사 원장(무결성 해시) / 전세 Shield(전세가율·권리·손실위험·계약·은행 연계)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01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04" y="3566160"/>
            <a:ext cx="4023360" cy="273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3CA2B-7F81-268B-9F89-96F81CA76BD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공개·공식 출처 우선 + 판단·행동·검증 멀티 에이전트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/>
            <a:r>
              <a:rPr sz="1200" b="0">
                <a:solidFill>
                  <a:srgbClr val="556677"/>
                </a:solidFill>
              </a:rPr>
              <a:t>데이터: 공공데이터포털·한국은행 ECOS·HUG·국토부 실거래가·금융위 경보 (라이선스·제약 명시)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기술: 멀티 에이전트 오케스트레이션(순차·병렬·에스컬레이션·검토 루프) + RAG + Rule Engine(L0–L4) + 모델 라우팅</a:t>
            </a:r>
          </a:p>
          <a:p>
            <a:pPr/>
            <a:r>
              <a:rPr sz="1200" b="1">
                <a:solidFill>
                  <a:srgbClr val="1F2D3D"/>
                </a:solidFill>
              </a:rPr>
              <a:t>PII 비반출: 상용 LLM 학습 미사용·국외이전 → 토큰화+국내 라우팅 (신용정보법 §40-2·PIPA §28-4/§28-5)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현재 Vanilla JS 정적 MVP → 본선 서버 API 승격(함수 계약 1:1)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05-gover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864" y="3520440"/>
            <a:ext cx="4206240" cy="390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DF22-ED3F-743F-2090-BF83570103E1}"/>
              </a:ext>
            </a:extLst>
          </p:cNvPr>
          <p:cNvSpPr txBox="1"/>
          <p:nvPr/>
        </p:nvSpPr>
        <p:spPr>
          <a:xfrm>
            <a:off x="2664541" y="1957156"/>
            <a:ext cx="754134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대표 유스케이스 — 전주 중앙로 카페 (JBG-104, riskScore 88, 운전자금 1.8억·매출 둔화)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1) 케이스 열기 → 2) AgentRun: 상환위험 분류가 금리·매출 둔화 분해(근거·confidence)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3) 정책금융 매칭(서류 체크리스트) → 4) RM 보좌 콜백 초안 → 준법 검토(과장·PII)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5) 거버넌스 PII 토큰화·반출 스캔 → 6) RM 승인 → 감사 원장 기록(누가·무엇·언제·근거)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보조: 전세 보호(?demo=jeonse) · 보이스피싱 외부 접촉 차단(?demo=phishing)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02-case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584" y="3383280"/>
            <a:ext cx="41148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945E-9ECE-D3DA-6C68-E94316447AE9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200" b="1">
                <a:solidFill>
                  <a:srgbClr val="1F2D3D"/>
                </a:solidFill>
              </a:rPr>
              <a:t>KPI: triage 시간 50%↓ · 판단 100% 근거 연결 · 고객 행동 100% 승인 통과 · 사후관리 누락 0건 · 전세 100% 체크리스트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/>
            <a:r>
              <a:rPr sz="1200" b="0">
                <a:solidFill>
                  <a:srgbClr val="556677"/>
                </a:solidFill>
              </a:rPr>
              <a:t>확장: 계열사(광주은행·JB우리캐피탈·자산운용) · 업무영역(기업여신 심사·WM) · 고객군(중소기업·가계)</a:t>
            </a:r>
          </a:p>
          <a:p>
            <a:pPr/>
            <a:r>
              <a:rPr sz="1200" b="0">
                <a:solidFill>
                  <a:srgbClr val="556677"/>
                </a:solidFill>
              </a:rPr>
              <a:t>발전 경로: PoC(현재) → 파일럿(1개 본부) → 내부 적용(네이버클라우드 MOU 방향) → 고객 서비스화</a:t>
            </a:r>
          </a:p>
          <a:p>
            <a:pPr/>
            <a:r>
              <a:rPr sz="1200" b="1">
                <a:solidFill>
                  <a:srgbClr val="1F2D3D"/>
                </a:solidFill>
              </a:rPr>
              <a:t>리스크 대응: PII 비반출 · 환각(근거·불확실성·다음확인 의무) · 설명가능성 · 책임소재(승인+무결성 감사)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06-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864" y="3566160"/>
            <a:ext cx="4206240" cy="28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