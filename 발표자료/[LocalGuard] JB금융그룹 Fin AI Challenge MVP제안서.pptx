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피해액(억원)</c:v>
                </c:pt>
              </c:strCache>
            </c:strRef>
          </c:tx>
          <c:spPr>
            <a:solidFill>
              <a:srgbClr val="0B6FB3"/>
            </a:solidFill>
          </c:spPr>
          <c:dPt>
            <c:idx val="0"/>
            <c:spPr>
              <a:solidFill>
                <a:srgbClr val="D6E3F1"/>
              </a:solidFill>
            </c:spPr>
          </c:dPt>
          <c:dPt>
            <c:idx val="1"/>
            <c:spPr>
              <a:solidFill>
                <a:srgbClr val="D6E3F1"/>
              </a:solidFill>
            </c:spPr>
          </c:dPt>
          <c:dPt>
            <c:idx val="2"/>
            <c:spPr>
              <a:solidFill>
                <a:srgbClr val="D6E3F1"/>
              </a:solidFill>
            </c:spPr>
          </c:dPt>
          <c:cat>
            <c:strRef>
              <c:f>Sheet1!$A$2:$A$3</c:f>
              <c:strCache>
                <c:ptCount val="2"/>
                <c:pt idx="0">
                  <c:v>2024년 1~11월</c:v>
                </c:pt>
                <c:pt idx="1">
                  <c:v>2025년 1~11월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7263</c:v>
                </c:pt>
                <c:pt idx="1">
                  <c:v>11330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>
                  <a:solidFill>
                    <a:srgbClr val="0F1F3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E3F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37797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결정(건)</c:v>
                </c:pt>
              </c:strCache>
            </c:strRef>
          </c:tx>
          <c:spPr>
            <a:ln w="28575">
              <a:solidFill>
                <a:srgbClr val="07569D"/>
              </a:solidFill>
            </a:ln>
          </c:spPr>
          <c:cat>
            <c:strRef>
              <c:f>Sheet1!$A$2:$A$5</c:f>
              <c:strCache>
                <c:ptCount val="4"/>
                <c:pt idx="0">
                  <c:v>’25.8</c:v>
                </c:pt>
                <c:pt idx="1">
                  <c:v>’25.10</c:v>
                </c:pt>
                <c:pt idx="2">
                  <c:v>’25.11</c:v>
                </c:pt>
                <c:pt idx="3">
                  <c:v>’26.5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32185</c:v>
                </c:pt>
                <c:pt idx="1">
                  <c:v>33978</c:v>
                </c:pt>
                <c:pt idx="2">
                  <c:v>34481</c:v>
                </c:pt>
                <c:pt idx="3">
                  <c:v>39121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00">
                  <a:solidFill>
                    <a:srgbClr val="0F1F3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E3F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637797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JB LocalGuard OS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581912" y="36118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37797"/>
                </a:solidFill>
                <a:latin typeface="Pretendard"/>
                <a:ea typeface="Pretendard"/>
              </a:rPr>
              <a:t>지역 금융 위험을 케이스로 만들고, AI 에이전트가 판단하고, 사람이 승인하는 금융안전 운영체제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이승보 (1인 팀)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JB LocalGuard OS  —  지역금융 안전 AI 에이전트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자유주제 (JB 미래사업 AI · 지역금융 리스크 대응 AI 에이전트 OS)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자금압박 · 전세사기 · 보이스피싱 등 지역 고객의 금융 위험을 </a:t>
                      </a:r>
                      <a:r>
                        <a:rPr sz="1400" b="1">
                          <a:solidFill>
                            <a:srgbClr val="07569D"/>
                          </a:solidFill>
                          <a:latin typeface="Pretendard"/>
                          <a:ea typeface="Pretendard"/>
                        </a:rPr>
                        <a:t>케이스</a:t>
                      </a:r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로 등록하면, 전문 AI 에이전트들이 </a:t>
                      </a:r>
                      <a:r>
                        <a:rPr sz="1400" b="1">
                          <a:solidFill>
                            <a:srgbClr val="07569D"/>
                          </a:solidFill>
                          <a:latin typeface="Pretendard"/>
                          <a:ea typeface="Pretendard"/>
                        </a:rPr>
                        <a:t>판단 → 조치 초안 → 사람 승인 → 감사 기록</a:t>
                      </a:r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까지 수행하는 JB 금융안전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3" y="1764792"/>
            <a:ext cx="3121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1.13조 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2093976"/>
            <a:ext cx="3121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보이스피싱 피해액 (’25.1~11월)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2331720"/>
            <a:ext cx="3121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전년 동기 대비 +56%  |  금융위·경찰청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532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1624" y="1764792"/>
            <a:ext cx="3121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39,121건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1624" y="2093976"/>
            <a:ext cx="3121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전세사기 피해자 누적 결정 (’26 기준)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1624" y="2331720"/>
            <a:ext cx="3121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HUG 사고액 ’24년 4.49조 원(역대 최대)  |  국토부·HUG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196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8264" y="1764792"/>
            <a:ext cx="3121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42.7만 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8264" y="2093976"/>
            <a:ext cx="3121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취약 자영업자 (’24말 · 13.7%)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8264" y="2331720"/>
            <a:ext cx="3121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취약차주 연체율 11.16%  |  한국은행 금융안정상황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보이스피싱 피해액 추이 (억 원)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99669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014983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출처: 경찰청 국가수사본부 발표 (2025.7 보도) · 2024년 1인당 피해액 5,290만 원으로 2배 증가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전세사기 피해자 누적 결정 건수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43737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55664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출처: 국토교통부 전세사기피해지원위원회 결정 현황 (보도자료 ’25.8 / ’25.10 / ’25.11 / ’26.5)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681728"/>
            <a:ext cx="10607040" cy="877824"/>
          </a:xfrm>
          <a:prstGeom prst="roundRect">
            <a:avLst>
              <a:gd name="adj" fmla="val 1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누가 겪는 문제인가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지역 소상공인 · 전세 계약을 앞둔 청년 · 고령 고객,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그리고 이들을 담당하는 JB RM · 심사 · 준법 담당자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152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무엇이 문제인가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152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기사 · 사기 경보 · 시세 · 등기 · 상담기록이 흩어져 있어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위험 신호를 조기에 모아서 판단하고 행동하기 어려움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5759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해결 후 기대 변화 (KPI)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5759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위험 인지→대응 착수 시간 50% 단축 · 판단 100% 근거 연결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고객 대상 행동 100% 사람 승인 통과 · 사후관리 누락 0건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시스템 아키텍처  </a:t>
            </a:r>
            <a:r>
              <a:rPr sz="900" b="0">
                <a:solidFill>
                  <a:srgbClr val="637797"/>
                </a:solidFill>
                <a:latin typeface="Pretendard"/>
                <a:ea typeface="Pretendard"/>
              </a:rPr>
              <a:t>— UI · 케이스 런타임 · 에이전트 메시 · 스킬 저장소 · 승인 게이트 · 감사 기록 (GitHub 07_아키텍처 Mermaid 원본)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4983480" cy="3529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stem-t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53" y="1993392"/>
            <a:ext cx="4262932" cy="3383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6480" y="1920240"/>
            <a:ext cx="5349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운영 루프 — 케이스가 흐르는 4단계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57984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99632" y="2226564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176272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케이스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176272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고객 위험을 케이스로 등록 (RM 또는 정기 스캔)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560320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99632" y="2628900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57860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에이전트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578608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스킬을 장착하고 근거 수집 · 위험 판단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962656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99632" y="3031236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98094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사람 승인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2980944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조치 초안을 사람이 검토 — 승인 / 반려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364992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99632" y="3433572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38328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감사 기록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383280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모든 판단 · 행동 · 승인이 활동 이력으로 남음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58768"/>
            <a:ext cx="5349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승인 · 통제 흐름  </a:t>
            </a:r>
            <a:r>
              <a:rPr sz="850" b="0">
                <a:solidFill>
                  <a:srgbClr val="637797"/>
                </a:solidFill>
                <a:latin typeface="Pretendard"/>
                <a:ea typeface="Pretendard"/>
              </a:rPr>
              <a:t>— 승인 레벨 L0–L4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096511"/>
            <a:ext cx="5349240" cy="136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ppro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142231"/>
            <a:ext cx="5257800" cy="125484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68680" y="5541264"/>
            <a:ext cx="10607040" cy="274320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591555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설계 원칙  </a:t>
            </a:r>
            <a:r>
              <a:rPr sz="850" b="0">
                <a:solidFill>
                  <a:srgbClr val="EDF4FB"/>
                </a:solidFill>
                <a:latin typeface="Pretendard"/>
                <a:ea typeface="Pretendard"/>
              </a:rPr>
              <a:t>스킬 장착형 멀티 에이전트(기능 추가 = 스킬 추가) · 승인 우선 자동화(완전 자동 발송 금지) · 근거와 감사 기록은 일급 객체</a:t>
            </a:r>
          </a:p>
        </p:txBody>
      </p:sp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실제 동작하는 MVP 콘솔</a:t>
            </a:r>
          </a:p>
        </p:txBody>
      </p:sp>
      <p:pic>
        <p:nvPicPr>
          <p:cNvPr id="19" name="Picture 18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38528"/>
            <a:ext cx="4297680" cy="2417445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868680" y="4392549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대시보드 — 한 줄 지시 실행 · 실시간 실행 · 처리 흐름 상태 · 우측 케이스 상세</a:t>
            </a:r>
          </a:p>
        </p:txBody>
      </p:sp>
      <p:pic>
        <p:nvPicPr>
          <p:cNvPr id="21" name="Picture 20" descr="org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12005"/>
            <a:ext cx="2084832" cy="1172718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pic>
        <p:nvPicPr>
          <p:cNvPr id="22" name="Picture 21" descr="skil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1528" y="4612005"/>
            <a:ext cx="2084832" cy="1172718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868680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에이전트 조직도 (14개)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스킬 저장소 (25종)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664208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핵심 기능 6가지 — 모두 MVP에서 동작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94676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케이스 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위험 케이스를 칸반/큐로 관리, 클릭 시 근거·담당 에이전트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흩어진 고객 위험의 단일 작업 화면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4212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762488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3940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실행 이력(에이전트 로그)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3940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실행/지시마다 로그 생성, 상태 전이 자동 기록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3940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AI 판단 과정의 투명한 추적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94676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승인 (사람 검토)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승인/반려 클릭으로 상태·감사·큐 숫자 즉시 갱신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고객 대상 행동의 사람 통제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4212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762488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3940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전세 보호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3940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전세가율·권리관계·자산 리스크·체크리스트·은행 연계 5대 진단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3940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전세사기 계약 전 예방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0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94676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6128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스킬 저장소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25종 스킬에 위험도·승인 정책 부여, 에이전트에 장착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기능 확장과 내부통제의 단위화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54212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762488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3940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활동 이력(감사)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3940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근거→판단→행동→승인 전 과정을 시간순 기록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3940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금융권 감사·설명가능성 충족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0" y="5504688"/>
            <a:ext cx="5989320" cy="384048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5596128"/>
            <a:ext cx="56235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MVP 범위  </a:t>
            </a:r>
            <a:r>
              <a:rPr sz="850" b="0">
                <a:solidFill>
                  <a:srgbClr val="EDF4FB"/>
                </a:solidFill>
                <a:latin typeface="Pretendard"/>
                <a:ea typeface="Pretendard"/>
              </a:rPr>
              <a:t>판단(위험 진단) → 행동(조치 초안) → 검증(승인·감사) — github.com/LSB-afk/JB-Fin-AI-Challenge</a:t>
            </a:r>
          </a:p>
        </p:txBody>
      </p:sp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활용 데이터 — 공개 · 공식 출처 우선, 출처 전부 명시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198424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공공 · 공식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991" y="1984248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HUG 안심전세(시세·전세가율·보증) · 국토교통부 보도자료 · 금융위 보이스피싱 경보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984248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공개 자료 · 출처 표기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578608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2642616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시장 · 언론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1" y="2642616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연합뉴스 · 쿠키뉴스 등 지역 경기/금리 부담 기사 (위험 신호 수집 대상)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2642616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링크 단위 근거 연결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236976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300984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JB 공식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1" y="3300984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JB금융그룹 계열사 현황 · JB-네이버클라우드 AI 업무협약 (jbfg.com)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3300984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사업 연계성 근거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895344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3959352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내부 운영(목업)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1991" y="3959352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상담 노트 · 케이스 이력 · 승인 기록 — MVP는 가상 데이터로 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3959352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개인정보 마스킹 전제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664208"/>
            <a:ext cx="4800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기술 구성 — 현재 MVP와 본선 목표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920240"/>
            <a:ext cx="4800600" cy="2633472"/>
          </a:xfrm>
          <a:prstGeom prst="roundRect">
            <a:avLst>
              <a:gd name="adj" fmla="val 6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2029968"/>
            <a:ext cx="45079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CA9D6"/>
                </a:solidFill>
                <a:latin typeface="Pretendard"/>
                <a:ea typeface="Pretendard"/>
              </a:rPr>
              <a:t>현재 MVP  (예선 · 구현 완료)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2249424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Vanilla JS/CSS 정적 콘솔 — 외부 의존성 0, 브라우저만으로 시연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2459736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상태 모델: 케이스 · 에이전트 실행 · 승인 · 감사 상호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2670048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GitHub 공개: github.com/LSB-afk/JB-Fin-AI-Challenge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1424" y="2953512"/>
            <a:ext cx="45079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CA9D6"/>
                </a:solidFill>
                <a:latin typeface="Pretendard"/>
                <a:ea typeface="Pretendard"/>
              </a:rPr>
              <a:t>본선 목표 아키텍처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3172968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LLM — 위험 판단 요약 · 조치 초안 생성 (Claude 등 상용 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3383279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RAG — HUG·국토부·금융위 공개자료 검색으로 근거 강제 연결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3593591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Rule Engine — 승인 레벨(L0–L4) · 금지 행동 정책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3803904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Multi-Agent — 오케스트레이터가 전문 에이전트에 스킬 주입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4014216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외부 API — 공공 데이터 우선, 상용 API는 라이선스 검토 후 사용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718304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기술적 제약과 해결 전략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4956048"/>
            <a:ext cx="3413759" cy="621792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5020056"/>
            <a:ext cx="31760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환각(Hallucination)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5212080"/>
            <a:ext cx="3176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모든 판단에 출처 링크 강제 + 확정 표현 금지 + 사람 승인 게이트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65320" y="4956048"/>
            <a:ext cx="3413759" cy="621792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4191" y="5020056"/>
            <a:ext cx="31760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개인정보 · 내부통제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4191" y="5212080"/>
            <a:ext cx="3176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마스킹 처리 · L0–L4 승인 레벨 · 전 과정 감사 로그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61960" y="4956048"/>
            <a:ext cx="3413759" cy="621792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0832" y="5020056"/>
            <a:ext cx="31760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법률 판단 한계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0832" y="5212080"/>
            <a:ext cx="3176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등기·보증은 원문 확인 절차 명시, 특약은 초안만 제공(법무 검토)</a:t>
            </a:r>
          </a:p>
        </p:txBody>
      </p:sp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유스케이스 상세 — 전세 보호 라인  (청년 고객이 전세계약 전에 은행을 통해 위험을 진단받는 흐름)</a:t>
            </a:r>
            <a:r>
              <a:rPr sz="900" b="0">
                <a:solidFill>
                  <a:srgbClr val="637797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고객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1368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RM(은행)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4056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EDF4FB"/>
                </a:solidFill>
                <a:latin typeface="Pretendard"/>
                <a:ea typeface="Pretendard"/>
              </a:rPr>
              <a:t>AI 에이전트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6744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F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검증·승인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전세계약 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상담 신청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25257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1270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586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586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케이스 생성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JBG-201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69287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5673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989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DF4FB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989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전세가율·권리관계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·자산 리스크 진단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13317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0076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392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DF4FB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392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체크리스트 +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특약 초안 생성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7346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4479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F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795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795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준법 검토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표현·법률 리스크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01376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58882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198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198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RM 승인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(사람 결정)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45406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3285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0601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0601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안전 계약 가이드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+ 대출·보증 상담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118103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안전 정책: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법률 확정 표현 금지 · 등기/보증은 원문 확인 · 특약은 초안만 · 은행 연계는 고객 동의 + RM 승인 후 진행</a:t>
            </a:r>
          </a:p>
        </p:txBody>
      </p:sp>
      <p:pic>
        <p:nvPicPr>
          <p:cNvPr id="51" name="Picture 50" descr="je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46703"/>
            <a:ext cx="3840480" cy="2160270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52" name="TextBox 51"/>
          <p:cNvSpPr txBox="1"/>
          <p:nvPr/>
        </p:nvSpPr>
        <p:spPr>
          <a:xfrm>
            <a:off x="868680" y="5534406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전세 보호 화면 — 5대 진단과 케이스(JBG-201) 연동</a:t>
            </a:r>
          </a:p>
        </p:txBody>
      </p:sp>
      <p:pic>
        <p:nvPicPr>
          <p:cNvPr id="53" name="Picture 52" descr="ru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93008"/>
            <a:ext cx="3291840" cy="1851660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54" name="TextBox 53"/>
          <p:cNvSpPr txBox="1"/>
          <p:nvPr/>
        </p:nvSpPr>
        <p:spPr>
          <a:xfrm>
            <a:off x="4937760" y="537210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실행 이력 — 에이전트 로그와 상태 전이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58200" y="3346703"/>
            <a:ext cx="3017519" cy="236143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86216" y="3428999"/>
            <a:ext cx="2761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대표 케이스 — 전주 카페 자금압박 케어 (JBG-104)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3730752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1.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전주 카페 케이스에 매출 둔화 + 금리 부담 신호 감지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86216" y="4160520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2.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상환 위험 분류 → 정책금융·서류 체크리스트 생성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86216" y="4590288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3.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콜백 초안 작성 → 준법 검토 → RM 승인 후 안내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6216" y="5020055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4.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전 과정 감사 기록 — 누락·책임소재 문제 해소</a:t>
            </a:r>
          </a:p>
        </p:txBody>
      </p:sp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50%↓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위험 인지→대응 착수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케이스 화면 하나로 원인·근거·다음 행동 파악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판단의 근거 연결률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모든 판단에 출처 링크 또는 내부 이벤트 연결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고객 대상 행동 승인 통과율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승인 게이트 없이는 외부 안내 불가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0건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사후관리 누락 0건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후속 태스크 자동 등록 · 사기 외부발송 차단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743200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* MVP 운영 목표 지표 — 본선에서 실데이터 PoC로 측정·검증 예정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035808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발전 경로 — 예선에서 고객 서비스까지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F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예선 (완료)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정적 MVP 콘솔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시나리오 검증 · GitHub 공개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79141" y="3749040"/>
            <a:ext cx="128017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4117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117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7573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본선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940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LLM · RAG 연동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공공데이터 PoC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822191" y="3749040"/>
            <a:ext cx="12801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95477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95477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1878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내부 파일럿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707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전북은행 RM 부서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승인·감사 정책 검증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365241" y="3749040"/>
            <a:ext cx="12801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4978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978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6183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고객 서비스화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801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뱅킹 앱 연계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전세 보호 우선 출시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59" y="3035808"/>
            <a:ext cx="4251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운영 리스크 대응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59" y="3291840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환각 · 오판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근거 링크 강제 + 확정 표현 금지 + 사람 승인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59" y="3538728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개인정보 · 보안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마스킹 · 내부망 전제 · 접근 권한 분리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59" y="3785616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책임소재 · 설명가능성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감사 로그로 판단·승인 주체 전 과정 추적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59" y="4032504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저작권 · 라이선스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공공·공식 출처 우선, 기사 등은 링크 인용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" y="4370832"/>
            <a:ext cx="10607040" cy="658368"/>
          </a:xfrm>
          <a:prstGeom prst="roundRect">
            <a:avLst>
              <a:gd name="adj" fmla="val 1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0" y="4471416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CA9D6"/>
                </a:solidFill>
                <a:latin typeface="Pretendard"/>
                <a:ea typeface="Pretendard"/>
              </a:rPr>
              <a:t>계열사 확장:  </a:t>
            </a:r>
            <a:r>
              <a:rPr sz="900" b="0">
                <a:solidFill>
                  <a:srgbClr val="EDF4FB"/>
                </a:solidFill>
                <a:latin typeface="Pretendard"/>
                <a:ea typeface="Pretendard"/>
              </a:rPr>
              <a:t>전북은행(지역 SME · 전세 보호)  →  광주은행(가계 · 청년)  →  JB우리캐피탈(할부 · 리스 사후관리)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4736592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JB금융그룹이 공개한 AI 추진 방향(기업대출 상담·심사·사후관리 AI — 네이버클라우드 업무협약)과 같은 축에서 확장</a:t>
            </a:r>
          </a:p>
        </p:txBody>
      </p:sp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